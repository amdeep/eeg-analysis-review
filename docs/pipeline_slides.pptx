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</a:t>
            </a:r>
          </a:p>
          <a:p/>
          <a:p>
            <a:r>
              <a:t>Slide 2 — Goals</a:t>
            </a:r>
          </a:p>
          <a:p>
            <a:r>
              <a:t>Identify robust EEG biomarkers that discriminate pain vs no‑pain</a:t>
            </a:r>
          </a:p>
          <a:p>
            <a:r>
              <a:t>Produce leakage-safe held‑out validation (LOSO)</a:t>
            </a:r>
          </a:p>
          <a:p>
            <a:r>
              <a:t>Provide a deployable, interpretable model and an audit trail for reproducibility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</a:t>
            </a:r>
          </a:p>
          <a:p/>
          <a:p>
            <a:r>
              <a:t>Slide 3 — Dataset &amp; Key facts</a:t>
            </a:r>
          </a:p>
          <a:p>
            <a:r>
              <a:t>OpenNeuro ds005284 (Zhao et al.), Biosemi 64-channel, 1024 Hz (resampled to 256 Hz)</a:t>
            </a:r>
          </a:p>
          <a:p>
            <a:r>
              <a:t>26 subjects, 781 epochs (367 pain / 414 no‑pain)</a:t>
            </a:r>
          </a:p>
          <a:p>
            <a:r>
              <a:t>ROI: C3, CZ, C4 focused on somatosensory responses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</a:t>
            </a:r>
          </a:p>
          <a:p/>
          <a:p>
            <a:r>
              <a:t>Slide 4 — Preprocessing pipeline (exact steps)</a:t>
            </a:r>
          </a:p>
          <a:p>
            <a:r>
              <a:t>1. Channel mapping: map raw device labels → 10–20 (channels.tsv)</a:t>
            </a:r>
          </a:p>
          <a:p>
            <a:r>
              <a:t>2. Resample: 1024 → 256 Hz</a:t>
            </a:r>
          </a:p>
          <a:p>
            <a:r>
              <a:t>3. Notch: 50 Hz &amp; 100 Hz (adjust to 60 Hz mains if needed)</a:t>
            </a:r>
          </a:p>
          <a:p>
            <a:r>
              <a:t>4. Bandpass: 0.5 – 80 Hz</a:t>
            </a:r>
          </a:p>
          <a:p>
            <a:r>
              <a:t>5. Reference: average reference</a:t>
            </a:r>
          </a:p>
          <a:p>
            <a:r>
              <a:t>6. Epoching:</a:t>
            </a:r>
          </a:p>
          <a:p>
            <a:r>
              <a:t>Pain: 0 → +2 s relative to stimulus onset</a:t>
            </a:r>
          </a:p>
          <a:p>
            <a:r>
              <a:t>No‑pain baseline: −5 → −3 s</a:t>
            </a:r>
          </a:p>
          <a:p>
            <a:r>
              <a:t>7. Artifact rejection: amplitude threshold (|µV| &gt; 200)</a:t>
            </a:r>
          </a:p>
          <a:p>
            <a:r>
              <a:t>8. Save per-epoch QC and per-subject summaries (audit CSVs)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</a:t>
            </a:r>
          </a:p>
          <a:p/>
          <a:p>
            <a:r>
              <a:t>Slide 5 — Feature families (extract all for new datasets)</a:t>
            </a:r>
          </a:p>
          <a:p>
            <a:r>
              <a:t>Spectral: abs/rel band power (δ,θ,α,β,low‑γ), band ratios, spectral centroid, median freq, 1/f slope</a:t>
            </a:r>
          </a:p>
          <a:p>
            <a:r>
              <a:t>Nonlinear: Higuchi FD, Petrosian FD, DFA, sample &amp; permutation entropy, Lempel‑Ziv, Hjorth</a:t>
            </a:r>
          </a:p>
          <a:p>
            <a:r>
              <a:t>Time-domain: RMS, STD, peak‑to‑peak, line length, zero-crossing rate, skew, kurtosis</a:t>
            </a:r>
          </a:p>
          <a:p>
            <a:r>
              <a:t>Wavelet: db4 multiscale energy ratios, wavelet entropy</a:t>
            </a:r>
          </a:p>
          <a:p>
            <a:r>
              <a:t>MFCC: first 5 MFCC means per channel</a:t>
            </a:r>
          </a:p>
          <a:p>
            <a:r>
              <a:t>AR dynamics: Burg AR coefficients + innovation variance</a:t>
            </a:r>
          </a:p>
          <a:p>
            <a:r>
              <a:t>Connectivity: coherence &amp; PLV for C3-CZ, C3-C4, CZ-C4 across bands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</a:t>
            </a:r>
          </a:p>
          <a:p/>
          <a:p>
            <a:r>
              <a:t>Slide 6 — Feature naming &amp; storage</a:t>
            </a:r>
          </a:p>
          <a:p>
            <a:r>
              <a:t>Use descriptive names: e.g., CZ_higuchi, C3_alpha_power, CZ_C4_lowgamma_plv</a:t>
            </a:r>
          </a:p>
          <a:p>
            <a:r>
              <a:t>Save:</a:t>
            </a:r>
          </a:p>
          <a:p>
            <a:r>
              <a:t>features CSV (rows = epochs, cols = features)</a:t>
            </a:r>
          </a:p>
          <a:p>
            <a:r>
              <a:t>features NPZ (X, y, subjects, feature_names)</a:t>
            </a:r>
          </a:p>
          <a:p>
            <a:r>
              <a:t>per-epoch QC CSV and subject_summary.csv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</a:t>
            </a:r>
          </a:p>
          <a:p/>
          <a:p>
            <a:r>
              <a:t>Slide 7 — Validation (leakage-safe procedure)</a:t>
            </a:r>
          </a:p>
          <a:p>
            <a:r>
              <a:t>1. Use Leave‑One‑Subject‑Out (LOSO) or appropriate grouped CV</a:t>
            </a:r>
          </a:p>
          <a:p>
            <a:r>
              <a:t>2. For each training fold:</a:t>
            </a:r>
          </a:p>
          <a:p>
            <a:r>
              <a:t>Replace non-finite, apply variance threshold (train-only)</a:t>
            </a:r>
          </a:p>
          <a:p>
            <a:r>
              <a:t>Fit StandardScaler (train-only) → transform test</a:t>
            </a:r>
          </a:p>
          <a:p>
            <a:r>
              <a:t>Compute ANOVA-F ranking on train → select top‑K (e.g., K=60)</a:t>
            </a:r>
          </a:p>
          <a:p>
            <a:r>
              <a:t>Fit classifier (e.g., LDA with shrinkage)</a:t>
            </a:r>
          </a:p>
          <a:p>
            <a:r>
              <a:t>3. Predict on held‑out subject; collect per-fold AUCs, sensitivities, specificities</a:t>
            </a:r>
          </a:p>
          <a:p>
            <a:r>
              <a:t>4. Report mean AUC ± SD and per-subject metrics; use paired tests for ablations (Wilcoxon)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</a:t>
            </a:r>
          </a:p>
          <a:p/>
          <a:p>
            <a:r>
              <a:t>Slide 8 — Recommended classifiers &amp; deployment</a:t>
            </a:r>
          </a:p>
          <a:p>
            <a:r>
              <a:t>Research / exploration: RF / Gradient Boosting for ablation; check overfitting</a:t>
            </a:r>
          </a:p>
          <a:p>
            <a:r>
              <a:t>Deployment / interpretability: LDA (shrinkage) on parsimonious set (e.g., top nonlinear CZ features)</a:t>
            </a:r>
          </a:p>
          <a:p>
            <a:r>
              <a:t>Implement per-subject QC gating before decision-making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</a:t>
            </a:r>
          </a:p>
          <a:p/>
          <a:p>
            <a:r>
              <a:t>Slide 9 — Ablation strategy</a:t>
            </a:r>
          </a:p>
          <a:p>
            <a:r>
              <a:t>Baseline (135 features) vs Baseline + family (wavelet / MFCC / AR / connectivity)</a:t>
            </a:r>
          </a:p>
          <a:p>
            <a:r>
              <a:t>Use the same LOSO splits and compute paired Wilcoxon tests across folds</a:t>
            </a:r>
          </a:p>
          <a:p>
            <a:r>
              <a:t>Record fold-level outputs and config JSON for auditability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</a:t>
            </a:r>
          </a:p>
          <a:p/>
          <a:p>
            <a:r>
              <a:t>Slide 10 — Typical outputs &amp; audit files</a:t>
            </a:r>
          </a:p>
          <a:p>
            <a:r>
              <a:t>all_subjects_features.csv, features_xy.npz, classification_results.csv</a:t>
            </a:r>
          </a:p>
          <a:p>
            <a:r>
              <a:t>per_subject_accuracy.csv, subject_summary.csv</a:t>
            </a:r>
          </a:p>
          <a:p>
            <a:r>
              <a:t>biomarker_exploration_screening.csv, biomarker_loso_ablation_results.csv</a:t>
            </a:r>
          </a:p>
          <a:p>
            <a:r>
              <a:t>Figures: ROC curves, feature heatmaps, per-subject violin plots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</a:t>
            </a:r>
          </a:p>
          <a:p/>
          <a:p>
            <a:r>
              <a:t>Slide 11 — Action items for a new dataset</a:t>
            </a:r>
          </a:p>
          <a:p>
            <a:r>
              <a:t>Prepare channels.tsv; verify event structure and stimulus timing</a:t>
            </a:r>
          </a:p>
          <a:p>
            <a:r>
              <a:t>Run preprocessing; save QC; extract baseline 135 features</a:t>
            </a:r>
          </a:p>
          <a:p>
            <a:r>
              <a:t>Run LOSO with training-only scaling &amp; selection; run family ablations</a:t>
            </a:r>
          </a:p>
          <a:p>
            <a:r>
              <a:t>If stable biomarkers appear, retrain compact model for deployment; validate on external dataset if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</a:t>
            </a:r>
          </a:p>
          <a:p/>
          <a:p>
            <a:r>
              <a:t>Slide 12 — Contact / Next steps</a:t>
            </a:r>
          </a:p>
          <a:p>
            <a:r>
              <a:t>Commit run outputs and config JSON for every experiment</a:t>
            </a:r>
          </a:p>
          <a:p>
            <a:r>
              <a:t>Add subject-level QC thresholds and automated gating</a:t>
            </a:r>
          </a:p>
          <a:p>
            <a:r>
              <a:t>Move toward real-time inference test with LDA on streaming ROI signals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54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0"/>
            <a:ext cx="73152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EEG Pain Biomarker Pipeline —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Calibri"/>
              </a:defRPr>
            </a:pPr>
            <a:r>
              <a:t>Slide 1 —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2 — Goals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Identify robust EEG biomarkers that discriminate pain vs no‑pain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Produce leakage-safe held‑out validation (LOSO)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Provide a deployable, interpretable model and an audit trail for reproducibility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3 — Dataset &amp; Key facts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OpenNeuro ds005284 (Zhao et al.), Biosemi 64-channel, 1024 Hz (resampled to 256 Hz)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26 subjects, 781 epochs (367 pain / 414 no‑pain)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ROI: C3, CZ, C4 focused on somatosensory responses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4 — Preprocessing pipeline (exact steps)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1. Channel mapping: map raw device labels → 10–20 (channels.tsv)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2. Resample: 1024 → 256 Hz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3. Notch: 50 Hz &amp; 100 Hz (adjust to 60 Hz mains if needed)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4. Bandpass: 0.5 – 80 Hz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5. Reference: average reference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6. Epoching: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Pain: 0 → +2 s relative to stimulus onset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No‑pain baseline: −5 → −3 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7. Artifact rejection: amplitude threshold (|µV| &gt; 200)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8. Save per-epoch QC and per-subject summaries (audit CSVs)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5 — Feature families (extract all for new datasets)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Spectral: abs/rel band power (δ,θ,α,β,low‑γ), band ratios, spectral centroid, median freq, 1/f slope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Nonlinear: Higuchi FD, Petrosian FD, DFA, sample &amp; permutation entropy, Lempel‑Ziv, Hjorth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Time-domain: RMS, STD, peak‑to‑peak, line length, zero-crossing rate, skew, kurtosis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Wavelet: db4 multiscale energy ratios, wavelet entropy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MFCC: first 5 MFCC means per channel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AR dynamics: Burg AR coefficients + innovation variance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Connectivity: coherence &amp; PLV for C3-CZ, C3-C4, CZ-C4 across bands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6 — Feature naming &amp; storage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Use descriptive names: e.g., CZ_higuchi, C3_alpha_power, CZ_C4_lowgamma_plv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Save: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features CSV (rows = epochs, cols = features)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features NPZ (X, y, subjects, feature_names)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per-epoch QC CSV and subject_summary.csv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7 — Validation (leakage-safe procedure)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1. Use Leave‑One‑Subject‑Out (LOSO) or appropriate grouped CV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2. For each training fold: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Replace non-finite, apply variance threshold (train-only)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Fit StandardScaler (train-only) → transform test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Compute ANOVA-F ranking on train → select top‑K (e.g., K=60)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Fit classifier (e.g., LDA with shrinkage)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3. Predict on held‑out subject; collect per-fold AUCs, sensitivities, specificities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4. Report mean AUC ± SD and per-subject metrics; use paired tests for ablations (Wilcoxon)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8 — Recommended classifiers &amp; deployment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Research / exploration: RF / Gradient Boosting for ablation; check overfitting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Deployment / interpretability: LDA (shrinkage) on parsimonious set (e.g., top nonlinear CZ features)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Implement per-subject QC gating before decision-making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9 — Ablation strategy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Baseline (135 features) vs Baseline + family (wavelet / MFCC / AR / connectivity)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Use the same LOSO splits and compute paired Wilcoxon tests across folds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Record fold-level outputs and config JSON for auditability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10 — Typical outputs &amp; audit files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all_subjects_features.csv, features_xy.npz, classification_results.csv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per_subject_accuracy.csv, subject_summary.csv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biomarker_exploration_screening.csv, biomarker_loso_ablation_results.csv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Figures: ROC curves, feature heatmaps, per-subject violin plots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11 — Action items for a new dataset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Prepare channels.tsv; verify event structure and stimulus timing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Run preprocessing; save QC; extract baseline 135 features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Run LOSO with training-only scaling &amp; selection; run family ablations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If stable biomarkers appear, retrain compact model for deployment; validate on external dataset if available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Slide 12 — Contact / Next steps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Commit run outputs and config JSON for every experiment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Add subject-level QC thresholds and automated gating</a:t>
            </a:r>
          </a:p>
          <a:p>
            <a:pPr>
              <a:defRPr sz="1800">
                <a:solidFill>
                  <a:srgbClr val="141414"/>
                </a:solidFill>
                <a:latin typeface="Calibri"/>
              </a:defRPr>
            </a:pPr>
            <a:r>
              <a:t>Move toward real-time inference test with LDA on streaming ROI signals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2F46"/>
                </a:solidFill>
                <a:latin typeface="Calibri"/>
              </a:defRPr>
            </a:pPr>
            <a:r>
              <a:t>Slide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